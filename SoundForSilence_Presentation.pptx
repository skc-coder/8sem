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31FF13-05C6-406D-A824-F7B99A8BB83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2FE817-53F0-49DF-B362-5C52A87109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F99D31-A074-4100-BD45-FB3A7528E5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8973AF-E79E-4F02-AA29-2B607DF098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C0EC48-726A-41FE-90F0-6FC45B45DA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85B4D8-A884-42ED-9FCC-4D68649BFA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B1FF7C-78BF-4B79-A7F7-1F3609B06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9A2970-F597-4842-8AE5-D3DFEC090F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0F8411-AA05-4AFB-9457-63F376A6DB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8EF4F3-56EF-4FB2-ADE8-097B88293C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53A6C8-6DFF-4A1B-8D7B-B8802FBF80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4110B8-F938-4A83-990D-5E10FE89E8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A0E347-506F-4FB1-A3FD-47680596FB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7C5898-7D22-4C6F-A694-F32095A180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2.png"/><Relationship Id="rId10" Type="http://schemas.openxmlformats.org/officeDocument/2006/relationships/image" Target="../media/image2.png"/><Relationship Id="rId11" Type="http://schemas.openxmlformats.org/officeDocument/2006/relationships/image" Target="../media/image2.png"/><Relationship Id="rId12" Type="http://schemas.openxmlformats.org/officeDocument/2006/relationships/image" Target="../media/image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c3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457200" y="-457200"/>
            <a:ext cx="2742480" cy="27424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772400" y="3200400"/>
            <a:ext cx="2285280" cy="2285280"/>
          </a:xfrm>
          <a:prstGeom prst="ellipse">
            <a:avLst/>
          </a:prstGeom>
          <a:solidFill>
            <a:srgbClr val="6a3fa0"/>
          </a:solidFill>
          <a:ln w="12700">
            <a:solidFill>
              <a:srgbClr val="6a3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858000" y="-274320"/>
            <a:ext cx="1370880" cy="1370880"/>
          </a:xfrm>
          <a:prstGeom prst="ellipse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82880" y="3840480"/>
            <a:ext cx="1096560" cy="1096560"/>
          </a:xfrm>
          <a:prstGeom prst="ellipse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3200400" y="502920"/>
            <a:ext cx="2742480" cy="346680"/>
          </a:xfrm>
          <a:prstGeom prst="roundRect">
            <a:avLst>
              <a:gd name="adj" fmla="val 39474"/>
            </a:avLst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200400" y="5029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B.Tech Major Project ·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914400" y="1005840"/>
            <a:ext cx="7314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Sound for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14400" y="1828800"/>
            <a:ext cx="7314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c4b0e0"/>
                </a:solidFill>
                <a:effectLst/>
                <a:uFillTx/>
                <a:latin typeface="Georgia"/>
                <a:ea typeface="Georgia"/>
              </a:rPr>
              <a:t>Silence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371600" y="266436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c4b0e0"/>
                </a:solidFill>
                <a:effectLst/>
                <a:uFillTx/>
                <a:latin typeface="Calibri"/>
              </a:rPr>
              <a:t>A digital therapy companion for cochlear implant children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0" y="4434840"/>
            <a:ext cx="9143280" cy="7081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274320" y="4434840"/>
            <a:ext cx="85946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de8f5"/>
                </a:solidFill>
                <a:effectLst/>
                <a:uFillTx/>
                <a:latin typeface="Calibri"/>
              </a:rPr>
              <a:t>Abhishek Verma  ·  Shekhar Chaurasiya  ·  Sakshi Puria  ·  Abhishek Rathore  |  Arya Institue of Engieering Technology and Managment, Jaipur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3657600" y="3120840"/>
            <a:ext cx="1371600" cy="120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51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2"/>
          <p:cNvSpPr/>
          <p:nvPr/>
        </p:nvSpPr>
        <p:spPr>
          <a:xfrm>
            <a:off x="255960" y="164520"/>
            <a:ext cx="621360" cy="621360"/>
          </a:xfrm>
          <a:prstGeom prst="ellipse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6"/>
          <p:cNvSpPr/>
          <p:nvPr/>
        </p:nvSpPr>
        <p:spPr>
          <a:xfrm>
            <a:off x="255960" y="1645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7"/>
          <p:cNvSpPr/>
          <p:nvPr/>
        </p:nvSpPr>
        <p:spPr>
          <a:xfrm>
            <a:off x="1005840" y="0"/>
            <a:ext cx="7954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What Do These Children Go Through?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3"/>
          <p:cNvSpPr/>
          <p:nvPr/>
        </p:nvSpPr>
        <p:spPr>
          <a:xfrm>
            <a:off x="274320" y="1051560"/>
            <a:ext cx="8595000" cy="456840"/>
          </a:xfrm>
          <a:prstGeom prst="roundRect">
            <a:avLst>
              <a:gd name="adj" fmla="val 20000"/>
            </a:avLst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8"/>
          <p:cNvSpPr/>
          <p:nvPr/>
        </p:nvSpPr>
        <p:spPr>
          <a:xfrm>
            <a:off x="274320" y="105156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34 million children worldwide live with disabling hearing loss — cochlear implants help, but rehabilitation is a long, hard journey  🌍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4"/>
          <p:cNvSpPr/>
          <p:nvPr/>
        </p:nvSpPr>
        <p:spPr>
          <a:xfrm>
            <a:off x="274320" y="1664280"/>
            <a:ext cx="4205880" cy="15541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27080" dir="8100000" dist="50402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5"/>
          <p:cNvSpPr/>
          <p:nvPr/>
        </p:nvSpPr>
        <p:spPr>
          <a:xfrm>
            <a:off x="274320" y="1664280"/>
            <a:ext cx="63720" cy="155412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6"/>
          <p:cNvSpPr/>
          <p:nvPr/>
        </p:nvSpPr>
        <p:spPr>
          <a:xfrm>
            <a:off x="420480" y="2103120"/>
            <a:ext cx="676440" cy="676440"/>
          </a:xfrm>
          <a:prstGeom prst="ellipse">
            <a:avLst/>
          </a:prstGeom>
          <a:solidFill>
            <a:srgbClr val="f9d0df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9"/>
          <p:cNvSpPr/>
          <p:nvPr/>
        </p:nvSpPr>
        <p:spPr>
          <a:xfrm>
            <a:off x="420480" y="2103120"/>
            <a:ext cx="676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🔇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0"/>
          <p:cNvSpPr/>
          <p:nvPr/>
        </p:nvSpPr>
        <p:spPr>
          <a:xfrm>
            <a:off x="1234440" y="1755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Born into Silence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1"/>
          <p:cNvSpPr/>
          <p:nvPr/>
        </p:nvSpPr>
        <p:spPr>
          <a:xfrm>
            <a:off x="1234440" y="2157840"/>
            <a:ext cx="3154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Children with profound hearing loss experience no sound from birth. Without early intervention, they never naturally develop speech or language.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7"/>
          <p:cNvSpPr/>
          <p:nvPr/>
        </p:nvSpPr>
        <p:spPr>
          <a:xfrm>
            <a:off x="4709160" y="1664280"/>
            <a:ext cx="4205880" cy="15541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27080" dir="8100000" dist="50402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58"/>
          <p:cNvSpPr/>
          <p:nvPr/>
        </p:nvSpPr>
        <p:spPr>
          <a:xfrm>
            <a:off x="4709160" y="1664280"/>
            <a:ext cx="63720" cy="15541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9"/>
          <p:cNvSpPr/>
          <p:nvPr/>
        </p:nvSpPr>
        <p:spPr>
          <a:xfrm>
            <a:off x="4855320" y="2103120"/>
            <a:ext cx="676440" cy="676440"/>
          </a:xfrm>
          <a:prstGeom prst="ellipse">
            <a:avLst/>
          </a:prstGeom>
          <a:solidFill>
            <a:srgbClr val="ede8f5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2"/>
          <p:cNvSpPr/>
          <p:nvPr/>
        </p:nvSpPr>
        <p:spPr>
          <a:xfrm>
            <a:off x="4855320" y="2103120"/>
            <a:ext cx="676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3"/>
          <p:cNvSpPr/>
          <p:nvPr/>
        </p:nvSpPr>
        <p:spPr>
          <a:xfrm>
            <a:off x="5669280" y="1755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Missing the Critical Window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4"/>
          <p:cNvSpPr/>
          <p:nvPr/>
        </p:nvSpPr>
        <p:spPr>
          <a:xfrm>
            <a:off x="5669280" y="2157840"/>
            <a:ext cx="3154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The brain is most receptive to language between ages 0–3. Every month of delay causes lasting gaps in cognitive and speech development.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0"/>
          <p:cNvSpPr/>
          <p:nvPr/>
        </p:nvSpPr>
        <p:spPr>
          <a:xfrm>
            <a:off x="274320" y="3383280"/>
            <a:ext cx="4205880" cy="15541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5855a"/>
            </a:solidFill>
            <a:round/>
          </a:ln>
          <a:effectLst>
            <a:outerShdw algn="bl" blurRad="127080" dir="8100000" dist="50402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61"/>
          <p:cNvSpPr/>
          <p:nvPr/>
        </p:nvSpPr>
        <p:spPr>
          <a:xfrm>
            <a:off x="274320" y="3383280"/>
            <a:ext cx="63720" cy="1554120"/>
          </a:xfrm>
          <a:prstGeom prst="rect">
            <a:avLst/>
          </a:prstGeom>
          <a:solidFill>
            <a:srgbClr val="f5855a"/>
          </a:solidFill>
          <a:ln w="12700">
            <a:solidFill>
              <a:srgbClr val="f5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2"/>
          <p:cNvSpPr/>
          <p:nvPr/>
        </p:nvSpPr>
        <p:spPr>
          <a:xfrm>
            <a:off x="420480" y="3822120"/>
            <a:ext cx="676440" cy="676440"/>
          </a:xfrm>
          <a:prstGeom prst="ellipse">
            <a:avLst/>
          </a:prstGeom>
          <a:solidFill>
            <a:srgbClr val="fdddd3"/>
          </a:solidFill>
          <a:ln w="12700">
            <a:solidFill>
              <a:srgbClr val="f5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5"/>
          <p:cNvSpPr/>
          <p:nvPr/>
        </p:nvSpPr>
        <p:spPr>
          <a:xfrm>
            <a:off x="420480" y="3822120"/>
            <a:ext cx="676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6"/>
          <p:cNvSpPr/>
          <p:nvPr/>
        </p:nvSpPr>
        <p:spPr>
          <a:xfrm>
            <a:off x="1234440" y="3474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Therapy is Exhausting &amp; Confusing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7"/>
          <p:cNvSpPr/>
          <p:nvPr/>
        </p:nvSpPr>
        <p:spPr>
          <a:xfrm>
            <a:off x="1234440" y="3877200"/>
            <a:ext cx="3154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Hours of repetitive exercises with no visual reward. Young children cannot understand why they must keep practicing — and give up.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3"/>
          <p:cNvSpPr/>
          <p:nvPr/>
        </p:nvSpPr>
        <p:spPr>
          <a:xfrm>
            <a:off x="4709160" y="3383280"/>
            <a:ext cx="4205880" cy="15541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27080" dir="8100000" dist="50402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4"/>
          <p:cNvSpPr/>
          <p:nvPr/>
        </p:nvSpPr>
        <p:spPr>
          <a:xfrm>
            <a:off x="4709160" y="3383280"/>
            <a:ext cx="63720" cy="1554120"/>
          </a:xfrm>
          <a:prstGeom prst="rect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5"/>
          <p:cNvSpPr/>
          <p:nvPr/>
        </p:nvSpPr>
        <p:spPr>
          <a:xfrm>
            <a:off x="4855320" y="3822120"/>
            <a:ext cx="676440" cy="676440"/>
          </a:xfrm>
          <a:prstGeom prst="ellipse">
            <a:avLst/>
          </a:prstGeom>
          <a:solidFill>
            <a:srgbClr val="c6ede3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8"/>
          <p:cNvSpPr/>
          <p:nvPr/>
        </p:nvSpPr>
        <p:spPr>
          <a:xfrm>
            <a:off x="4855320" y="3822120"/>
            <a:ext cx="676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59"/>
          <p:cNvSpPr/>
          <p:nvPr/>
        </p:nvSpPr>
        <p:spPr>
          <a:xfrm>
            <a:off x="5669280" y="3474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Isolated at School &amp; Home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0"/>
          <p:cNvSpPr/>
          <p:nvPr/>
        </p:nvSpPr>
        <p:spPr>
          <a:xfrm>
            <a:off x="5669280" y="3877200"/>
            <a:ext cx="3154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Unable to communicate clearly, children face social isolation. They struggle to follow conversations, make friends, or keep up in class.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65760" y="0"/>
            <a:ext cx="841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The Problem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274320" y="1188720"/>
            <a:ext cx="2742480" cy="347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274320" y="1188720"/>
            <a:ext cx="2742480" cy="41076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274320" y="14630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365760" y="22676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Paper Records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411480" y="2743200"/>
            <a:ext cx="24681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Therapy progress is tracked manually, making long-term monitoring error-prone.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3246120" y="1188720"/>
            <a:ext cx="2742480" cy="347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3246120" y="1188720"/>
            <a:ext cx="2742480" cy="410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3246120" y="14630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👁️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3337560" y="22676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No Parent Visibility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3383280" y="2743200"/>
            <a:ext cx="24681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Parents have no real-time insight into their child's daily therapy progress.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6217920" y="1188720"/>
            <a:ext cx="2742480" cy="347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6217920" y="1188720"/>
            <a:ext cx="2742480" cy="410760"/>
          </a:xfrm>
          <a:prstGeom prst="rect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6217920" y="14630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6309360" y="22676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No Clinical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6355080" y="2743200"/>
            <a:ext cx="24681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Therapists lack tools to record CAP/SIR scores and visualize trends over 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d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365760" y="0"/>
            <a:ext cx="841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Our Solution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2560320" y="1143000"/>
            <a:ext cx="4022640" cy="547920"/>
          </a:xfrm>
          <a:prstGeom prst="roundRect">
            <a:avLst>
              <a:gd name="adj" fmla="val 41667"/>
            </a:avLst>
          </a:prstGeom>
          <a:solidFill>
            <a:srgbClr val="5c3d8f"/>
          </a:solidFill>
          <a:ln w="12700">
            <a:solidFill>
              <a:srgbClr val="5c3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2560320" y="1143000"/>
            <a:ext cx="4022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Sound for Silence — Dual Interface Platform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274320" y="1783080"/>
            <a:ext cx="3931200" cy="30625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274320" y="1783080"/>
            <a:ext cx="3931200" cy="50220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365760" y="1783080"/>
            <a:ext cx="3748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📱 Android App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11480" y="23317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i="1" u="none" strike="noStrike">
                <a:solidFill>
                  <a:srgbClr val="e8779a"/>
                </a:solidFill>
                <a:effectLst/>
                <a:uFillTx/>
                <a:latin typeface="Calibri"/>
              </a:rPr>
              <a:t>Patient &amp; Parent Portal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457200" y="2670120"/>
            <a:ext cx="356544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5a407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Gamified therapy stages with sequential video unlocks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5a407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Post-video quizzes to test comprehension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5a407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Parent dashboard with streaks &amp; progress 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4937760" y="1783080"/>
            <a:ext cx="3931200" cy="30625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4937760" y="1783080"/>
            <a:ext cx="3931200" cy="502200"/>
          </a:xfrm>
          <a:prstGeom prst="rect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5029200" y="1783080"/>
            <a:ext cx="3748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🌐 Web Dashboard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5074920" y="23317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i="1" u="none" strike="noStrike">
                <a:solidFill>
                  <a:srgbClr val="5bbfa0"/>
                </a:solidFill>
                <a:effectLst/>
                <a:uFillTx/>
                <a:latin typeface="Calibri"/>
              </a:rPr>
              <a:t>Therapist Portal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5120640" y="2670120"/>
            <a:ext cx="356544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5a407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Manage patients &amp; view implant/assessment 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5a407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Record CAP (0–7) &amp; SIR (0–5) clinical scores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5a407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Interactive Chart.js progress charts (3/6/12 months)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365760" y="0"/>
            <a:ext cx="841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 Who Is It For?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1188720" y="1143000"/>
            <a:ext cx="1279440" cy="1279440"/>
          </a:xfrm>
          <a:prstGeom prst="ellipse">
            <a:avLst/>
          </a:prstGeom>
          <a:solidFill>
            <a:srgbClr val="f9d0df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1188720" y="1143000"/>
            <a:ext cx="1279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🧒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411480" y="2468880"/>
            <a:ext cx="2605320" cy="2285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502920" y="248724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8779a"/>
                </a:solidFill>
                <a:effectLst/>
                <a:uFillTx/>
                <a:latin typeface="Georgia"/>
                <a:ea typeface="Georgia"/>
              </a:rPr>
              <a:t>Child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502920" y="2907720"/>
            <a:ext cx="2422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Cochlear implant patient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48640" y="3218760"/>
            <a:ext cx="2331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Watches therapy videos, takes quizzes, earns streaks in a fun game-like experience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4023360" y="1143000"/>
            <a:ext cx="1279440" cy="1279440"/>
          </a:xfrm>
          <a:prstGeom prst="ellipse">
            <a:avLst/>
          </a:prstGeom>
          <a:solidFill>
            <a:srgbClr val="ede8f5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023360" y="1143000"/>
            <a:ext cx="1279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👨‍👩‍👧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3246120" y="2468880"/>
            <a:ext cx="2605320" cy="2285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3337560" y="248724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7b5ea7"/>
                </a:solidFill>
                <a:effectLst/>
                <a:uFillTx/>
                <a:latin typeface="Georgia"/>
                <a:ea typeface="Georgia"/>
              </a:rPr>
              <a:t>Parent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3337560" y="2907720"/>
            <a:ext cx="2422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Caregiver &amp; 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3383280" y="3218760"/>
            <a:ext cx="2331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Tracks child's daily progress, stage completion, and quiz scores in real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6858000" y="1143000"/>
            <a:ext cx="1279440" cy="1279440"/>
          </a:xfrm>
          <a:prstGeom prst="ellipse">
            <a:avLst/>
          </a:prstGeom>
          <a:solidFill>
            <a:srgbClr val="c6ede3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6858000" y="1143000"/>
            <a:ext cx="1279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👩‍⚕️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6080760" y="2468880"/>
            <a:ext cx="2605320" cy="2285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6172200" y="248724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5bbfa0"/>
                </a:solidFill>
                <a:effectLst/>
                <a:uFillTx/>
                <a:latin typeface="Georgia"/>
                <a:ea typeface="Georgia"/>
              </a:rPr>
              <a:t>Therapist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6172200" y="2907720"/>
            <a:ext cx="2422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Clinician &amp; analyst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6217920" y="3218760"/>
            <a:ext cx="2331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4070"/>
                </a:solidFill>
                <a:effectLst/>
                <a:uFillTx/>
                <a:latin typeface="Calibri"/>
              </a:rPr>
              <a:t>Records CAP/SIR scores, views long-term charts, and manages patient records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Architecture or App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274320" y="1005840"/>
            <a:ext cx="3748320" cy="346680"/>
          </a:xfrm>
          <a:prstGeom prst="roundRect">
            <a:avLst>
              <a:gd name="adj" fmla="val 26316"/>
            </a:avLst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274320" y="100584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📱 Android App (Patient)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5120640" y="1005840"/>
            <a:ext cx="3748320" cy="346680"/>
          </a:xfrm>
          <a:prstGeom prst="roundRect">
            <a:avLst>
              <a:gd name="adj" fmla="val 26316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120640" y="100584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🌐 Web Dashboard (Therapist)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4343400" y="1005840"/>
            <a:ext cx="456480" cy="3656880"/>
          </a:xfrm>
          <a:prstGeom prst="rect">
            <a:avLst/>
          </a:prstGeom>
          <a:solidFill>
            <a:srgbClr val="ede8f5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297680" y="2377440"/>
            <a:ext cx="547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🔥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Firebase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274320" y="144468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320040" y="144468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Child / Parent Login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2148840" y="1947600"/>
            <a:ext cx="360" cy="164520"/>
          </a:xfrm>
          <a:prstGeom prst="line">
            <a:avLst/>
          </a:prstGeom>
          <a:ln w="254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274320" y="211212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320040" y="211212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Browse Therapy Stages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2148840" y="2615040"/>
            <a:ext cx="360" cy="164520"/>
          </a:xfrm>
          <a:prstGeom prst="line">
            <a:avLst/>
          </a:prstGeom>
          <a:ln w="254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274320" y="277992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320040" y="277992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Watch Video (Unlocked)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2148840" y="3282480"/>
            <a:ext cx="360" cy="164520"/>
          </a:xfrm>
          <a:prstGeom prst="line">
            <a:avLst/>
          </a:prstGeom>
          <a:ln w="254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274320" y="344736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320040" y="344736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Take Post-Video Quiz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2148840" y="3949920"/>
            <a:ext cx="360" cy="164880"/>
          </a:xfrm>
          <a:prstGeom prst="line">
            <a:avLst/>
          </a:prstGeom>
          <a:ln w="254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>
            <a:off x="274320" y="411480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5a623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320040" y="411480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Progress Saved to Firebase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5120640" y="144468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5166360" y="144468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Therapist Login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4"/>
          <p:cNvSpPr/>
          <p:nvPr/>
        </p:nvSpPr>
        <p:spPr>
          <a:xfrm>
            <a:off x="6995160" y="1947600"/>
            <a:ext cx="360" cy="164520"/>
          </a:xfrm>
          <a:prstGeom prst="line">
            <a:avLst/>
          </a:prstGeom>
          <a:ln w="254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5"/>
          <p:cNvSpPr/>
          <p:nvPr/>
        </p:nvSpPr>
        <p:spPr>
          <a:xfrm>
            <a:off x="5120640" y="211212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5166360" y="211212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View Patient List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7"/>
          <p:cNvSpPr/>
          <p:nvPr/>
        </p:nvSpPr>
        <p:spPr>
          <a:xfrm>
            <a:off x="6995160" y="2615040"/>
            <a:ext cx="360" cy="164520"/>
          </a:xfrm>
          <a:prstGeom prst="line">
            <a:avLst/>
          </a:prstGeom>
          <a:ln w="254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8"/>
          <p:cNvSpPr/>
          <p:nvPr/>
        </p:nvSpPr>
        <p:spPr>
          <a:xfrm>
            <a:off x="5120640" y="277992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5166360" y="277992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Record CAP / SIR 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6995160" y="3282480"/>
            <a:ext cx="360" cy="164520"/>
          </a:xfrm>
          <a:prstGeom prst="line">
            <a:avLst/>
          </a:prstGeom>
          <a:ln w="254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1"/>
          <p:cNvSpPr/>
          <p:nvPr/>
        </p:nvSpPr>
        <p:spPr>
          <a:xfrm>
            <a:off x="5120640" y="344736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2"/>
          <p:cNvSpPr/>
          <p:nvPr/>
        </p:nvSpPr>
        <p:spPr>
          <a:xfrm>
            <a:off x="5166360" y="344736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View Progress Charts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3"/>
          <p:cNvSpPr/>
          <p:nvPr/>
        </p:nvSpPr>
        <p:spPr>
          <a:xfrm>
            <a:off x="6995160" y="3949920"/>
            <a:ext cx="360" cy="164880"/>
          </a:xfrm>
          <a:prstGeom prst="line">
            <a:avLst/>
          </a:prstGeom>
          <a:ln w="254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4"/>
          <p:cNvSpPr/>
          <p:nvPr/>
        </p:nvSpPr>
        <p:spPr>
          <a:xfrm>
            <a:off x="5120640" y="4114800"/>
            <a:ext cx="3748320" cy="502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5a623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5"/>
          <p:cNvSpPr/>
          <p:nvPr/>
        </p:nvSpPr>
        <p:spPr>
          <a:xfrm>
            <a:off x="5166360" y="411480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Data Synced in Real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d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Android App — Patient &amp; Parent Portal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365760" y="913680"/>
            <a:ext cx="1920240" cy="41155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521280" y="1170360"/>
            <a:ext cx="22485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1143720" y="43441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411480" y="4041720"/>
            <a:ext cx="2468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457200" y="43344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457200" y="11430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 txBox="1"/>
          <p:nvPr/>
        </p:nvSpPr>
        <p:spPr>
          <a:xfrm>
            <a:off x="770040" y="912600"/>
            <a:ext cx="1058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Therapy Stages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8"/>
          <p:cNvSpPr/>
          <p:nvPr/>
        </p:nvSpPr>
        <p:spPr>
          <a:xfrm>
            <a:off x="1144080" y="43441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/>
          <p:cNvPicPr/>
          <p:nvPr/>
        </p:nvPicPr>
        <p:blipFill>
          <a:blip r:embed="rId2"/>
          <a:stretch/>
        </p:blipFill>
        <p:spPr>
          <a:xfrm>
            <a:off x="457560" y="11430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/>
          <p:cNvSpPr txBox="1"/>
          <p:nvPr/>
        </p:nvSpPr>
        <p:spPr>
          <a:xfrm>
            <a:off x="770400" y="912600"/>
            <a:ext cx="1058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Therapy Stages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9"/>
          <p:cNvSpPr/>
          <p:nvPr/>
        </p:nvSpPr>
        <p:spPr>
          <a:xfrm>
            <a:off x="1143720" y="43441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/>
          <p:cNvPicPr/>
          <p:nvPr/>
        </p:nvPicPr>
        <p:blipFill>
          <a:blip r:embed="rId3"/>
          <a:stretch/>
        </p:blipFill>
        <p:spPr>
          <a:xfrm>
            <a:off x="457200" y="11430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"/>
          <p:cNvSpPr txBox="1"/>
          <p:nvPr/>
        </p:nvSpPr>
        <p:spPr>
          <a:xfrm>
            <a:off x="770040" y="912600"/>
            <a:ext cx="1058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Therapy Stages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0"/>
          <p:cNvSpPr/>
          <p:nvPr/>
        </p:nvSpPr>
        <p:spPr>
          <a:xfrm>
            <a:off x="1144080" y="43441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"/>
          <p:cNvPicPr/>
          <p:nvPr/>
        </p:nvPicPr>
        <p:blipFill>
          <a:blip r:embed="rId4"/>
          <a:stretch/>
        </p:blipFill>
        <p:spPr>
          <a:xfrm>
            <a:off x="457560" y="11430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"/>
          <p:cNvSpPr txBox="1"/>
          <p:nvPr/>
        </p:nvSpPr>
        <p:spPr>
          <a:xfrm>
            <a:off x="770400" y="912600"/>
            <a:ext cx="1058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Therapy Stages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1"/>
          <p:cNvSpPr/>
          <p:nvPr/>
        </p:nvSpPr>
        <p:spPr>
          <a:xfrm>
            <a:off x="3429000" y="915480"/>
            <a:ext cx="1920240" cy="41155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0"/>
          <p:cNvSpPr/>
          <p:nvPr/>
        </p:nvSpPr>
        <p:spPr>
          <a:xfrm>
            <a:off x="3584520" y="1172160"/>
            <a:ext cx="22485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2"/>
          <p:cNvSpPr/>
          <p:nvPr/>
        </p:nvSpPr>
        <p:spPr>
          <a:xfrm>
            <a:off x="420696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1"/>
          <p:cNvSpPr/>
          <p:nvPr/>
        </p:nvSpPr>
        <p:spPr>
          <a:xfrm>
            <a:off x="3474720" y="3992760"/>
            <a:ext cx="2468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2"/>
          <p:cNvSpPr/>
          <p:nvPr/>
        </p:nvSpPr>
        <p:spPr>
          <a:xfrm>
            <a:off x="3520440" y="428544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"/>
          <p:cNvPicPr/>
          <p:nvPr/>
        </p:nvPicPr>
        <p:blipFill>
          <a:blip r:embed="rId5"/>
          <a:stretch/>
        </p:blipFill>
        <p:spPr>
          <a:xfrm>
            <a:off x="352044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"/>
          <p:cNvSpPr txBox="1"/>
          <p:nvPr/>
        </p:nvSpPr>
        <p:spPr>
          <a:xfrm>
            <a:off x="3833280" y="914400"/>
            <a:ext cx="10627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Learning 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3"/>
          <p:cNvSpPr/>
          <p:nvPr/>
        </p:nvSpPr>
        <p:spPr>
          <a:xfrm>
            <a:off x="420732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6"/>
          <a:stretch/>
        </p:blipFill>
        <p:spPr>
          <a:xfrm>
            <a:off x="352080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hape 44"/>
          <p:cNvSpPr/>
          <p:nvPr/>
        </p:nvSpPr>
        <p:spPr>
          <a:xfrm>
            <a:off x="420696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"/>
          <p:cNvPicPr/>
          <p:nvPr/>
        </p:nvPicPr>
        <p:blipFill>
          <a:blip r:embed="rId7"/>
          <a:stretch/>
        </p:blipFill>
        <p:spPr>
          <a:xfrm>
            <a:off x="352044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45"/>
          <p:cNvSpPr/>
          <p:nvPr/>
        </p:nvSpPr>
        <p:spPr>
          <a:xfrm>
            <a:off x="420732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/>
          <p:cNvPicPr/>
          <p:nvPr/>
        </p:nvPicPr>
        <p:blipFill>
          <a:blip r:embed="rId8"/>
          <a:stretch/>
        </p:blipFill>
        <p:spPr>
          <a:xfrm>
            <a:off x="352080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46"/>
          <p:cNvSpPr/>
          <p:nvPr/>
        </p:nvSpPr>
        <p:spPr>
          <a:xfrm>
            <a:off x="6630120" y="915480"/>
            <a:ext cx="1920240" cy="41155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3"/>
          <p:cNvSpPr/>
          <p:nvPr/>
        </p:nvSpPr>
        <p:spPr>
          <a:xfrm>
            <a:off x="6785640" y="1172160"/>
            <a:ext cx="22485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7"/>
          <p:cNvSpPr/>
          <p:nvPr/>
        </p:nvSpPr>
        <p:spPr>
          <a:xfrm>
            <a:off x="740808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6675840" y="4043520"/>
            <a:ext cx="2468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5"/>
          <p:cNvSpPr/>
          <p:nvPr/>
        </p:nvSpPr>
        <p:spPr>
          <a:xfrm>
            <a:off x="6721560" y="43362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"/>
          <p:cNvPicPr/>
          <p:nvPr/>
        </p:nvPicPr>
        <p:blipFill>
          <a:blip r:embed="rId9"/>
          <a:stretch/>
        </p:blipFill>
        <p:spPr>
          <a:xfrm>
            <a:off x="672156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"/>
          <p:cNvSpPr txBox="1"/>
          <p:nvPr/>
        </p:nvSpPr>
        <p:spPr>
          <a:xfrm>
            <a:off x="7034400" y="914400"/>
            <a:ext cx="947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3d8f"/>
                </a:solidFill>
                <a:effectLst/>
                <a:uFillTx/>
                <a:latin typeface="Calibri"/>
              </a:rPr>
              <a:t>Settings Page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8"/>
          <p:cNvSpPr/>
          <p:nvPr/>
        </p:nvSpPr>
        <p:spPr>
          <a:xfrm>
            <a:off x="740844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"/>
          <p:cNvPicPr/>
          <p:nvPr/>
        </p:nvPicPr>
        <p:blipFill>
          <a:blip r:embed="rId10"/>
          <a:stretch/>
        </p:blipFill>
        <p:spPr>
          <a:xfrm>
            <a:off x="672192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Shape 49"/>
          <p:cNvSpPr/>
          <p:nvPr/>
        </p:nvSpPr>
        <p:spPr>
          <a:xfrm>
            <a:off x="740808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"/>
          <p:cNvPicPr/>
          <p:nvPr/>
        </p:nvPicPr>
        <p:blipFill>
          <a:blip r:embed="rId11"/>
          <a:stretch/>
        </p:blipFill>
        <p:spPr>
          <a:xfrm>
            <a:off x="672156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Shape 50"/>
          <p:cNvSpPr/>
          <p:nvPr/>
        </p:nvSpPr>
        <p:spPr>
          <a:xfrm>
            <a:off x="7408440" y="4345920"/>
            <a:ext cx="456480" cy="456480"/>
          </a:xfrm>
          <a:prstGeom prst="ellipse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/>
          <p:cNvPicPr/>
          <p:nvPr/>
        </p:nvPicPr>
        <p:blipFill>
          <a:blip r:embed="rId12"/>
          <a:stretch/>
        </p:blipFill>
        <p:spPr>
          <a:xfrm>
            <a:off x="6721920" y="1144800"/>
            <a:ext cx="1725480" cy="383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6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🌐  Web Dashboard — Therapist Portal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1389240" y="1005840"/>
            <a:ext cx="6406560" cy="3199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1029240" y="1005840"/>
            <a:ext cx="758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1029240" y="1353240"/>
            <a:ext cx="75888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4023360" y="4206240"/>
            <a:ext cx="1096560" cy="273600"/>
          </a:xfrm>
          <a:prstGeom prst="rect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3474720" y="4480560"/>
            <a:ext cx="2193840" cy="136440"/>
          </a:xfrm>
          <a:prstGeom prst="rect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9"/>
          <p:cNvSpPr/>
          <p:nvPr/>
        </p:nvSpPr>
        <p:spPr>
          <a:xfrm>
            <a:off x="91440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91440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👤 Patient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347472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347472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📈 CAP / SIR Scoring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603504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603504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📊 Settings Page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 rot="21590400">
            <a:off x="1622160" y="1049760"/>
            <a:ext cx="5940720" cy="307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6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2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🌐  Web Dashboard — Therapist Portal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6"/>
          <p:cNvSpPr/>
          <p:nvPr/>
        </p:nvSpPr>
        <p:spPr>
          <a:xfrm>
            <a:off x="1389240" y="1005840"/>
            <a:ext cx="6406560" cy="3199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1029240" y="1005840"/>
            <a:ext cx="758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1029240" y="1353240"/>
            <a:ext cx="75888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>
            <a:off x="4023360" y="4206240"/>
            <a:ext cx="1096560" cy="273600"/>
          </a:xfrm>
          <a:prstGeom prst="rect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2"/>
          <p:cNvSpPr/>
          <p:nvPr/>
        </p:nvSpPr>
        <p:spPr>
          <a:xfrm>
            <a:off x="3474720" y="4480560"/>
            <a:ext cx="2193840" cy="136440"/>
          </a:xfrm>
          <a:prstGeom prst="rect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5"/>
          <p:cNvSpPr/>
          <p:nvPr/>
        </p:nvSpPr>
        <p:spPr>
          <a:xfrm>
            <a:off x="91440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91440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👤 Patient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6"/>
          <p:cNvSpPr/>
          <p:nvPr/>
        </p:nvSpPr>
        <p:spPr>
          <a:xfrm>
            <a:off x="347472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3"/>
          <p:cNvSpPr/>
          <p:nvPr/>
        </p:nvSpPr>
        <p:spPr>
          <a:xfrm>
            <a:off x="347472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📈 CAP / SIR Scoring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7"/>
          <p:cNvSpPr/>
          <p:nvPr/>
        </p:nvSpPr>
        <p:spPr>
          <a:xfrm>
            <a:off x="603504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4"/>
          <p:cNvSpPr/>
          <p:nvPr/>
        </p:nvSpPr>
        <p:spPr>
          <a:xfrm>
            <a:off x="603504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📊 Settings Page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"/>
          <p:cNvPicPr/>
          <p:nvPr/>
        </p:nvPicPr>
        <p:blipFill>
          <a:blip r:embed="rId1"/>
          <a:stretch/>
        </p:blipFill>
        <p:spPr>
          <a:xfrm>
            <a:off x="1600560" y="1065240"/>
            <a:ext cx="5943240" cy="307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6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66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6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🌐  Web Dashboard — Therapist Portal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67"/>
          <p:cNvSpPr/>
          <p:nvPr/>
        </p:nvSpPr>
        <p:spPr>
          <a:xfrm>
            <a:off x="1389240" y="1005840"/>
            <a:ext cx="6406560" cy="3199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1029240" y="1005840"/>
            <a:ext cx="758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1029240" y="1353240"/>
            <a:ext cx="75888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8"/>
          <p:cNvSpPr/>
          <p:nvPr/>
        </p:nvSpPr>
        <p:spPr>
          <a:xfrm>
            <a:off x="4023360" y="4206240"/>
            <a:ext cx="1096560" cy="273600"/>
          </a:xfrm>
          <a:prstGeom prst="rect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69"/>
          <p:cNvSpPr/>
          <p:nvPr/>
        </p:nvSpPr>
        <p:spPr>
          <a:xfrm>
            <a:off x="3474720" y="4480560"/>
            <a:ext cx="2193840" cy="136440"/>
          </a:xfrm>
          <a:prstGeom prst="rect">
            <a:avLst/>
          </a:prstGeom>
          <a:solidFill>
            <a:srgbClr val="c4b0e0"/>
          </a:solidFill>
          <a:ln w="12700">
            <a:solidFill>
              <a:srgbClr val="c4b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0"/>
          <p:cNvSpPr/>
          <p:nvPr/>
        </p:nvSpPr>
        <p:spPr>
          <a:xfrm>
            <a:off x="91440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9"/>
          <p:cNvSpPr/>
          <p:nvPr/>
        </p:nvSpPr>
        <p:spPr>
          <a:xfrm>
            <a:off x="91440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👤 Patient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1"/>
          <p:cNvSpPr/>
          <p:nvPr/>
        </p:nvSpPr>
        <p:spPr>
          <a:xfrm>
            <a:off x="347472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1"/>
          <p:cNvSpPr/>
          <p:nvPr/>
        </p:nvSpPr>
        <p:spPr>
          <a:xfrm>
            <a:off x="347472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📈 CAP / SIR Scoring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2"/>
          <p:cNvSpPr/>
          <p:nvPr/>
        </p:nvSpPr>
        <p:spPr>
          <a:xfrm>
            <a:off x="6035040" y="4663440"/>
            <a:ext cx="2376720" cy="346680"/>
          </a:xfrm>
          <a:prstGeom prst="roundRect">
            <a:avLst>
              <a:gd name="adj" fmla="val 3947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2"/>
          <p:cNvSpPr/>
          <p:nvPr/>
        </p:nvSpPr>
        <p:spPr>
          <a:xfrm>
            <a:off x="6035040" y="46634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📊 Settings Page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"/>
          <p:cNvPicPr/>
          <p:nvPr/>
        </p:nvPicPr>
        <p:blipFill>
          <a:blip r:embed="rId1"/>
          <a:stretch/>
        </p:blipFill>
        <p:spPr>
          <a:xfrm rot="21590400">
            <a:off x="1622160" y="1049760"/>
            <a:ext cx="5940720" cy="307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⚙️  Tech Stack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"/>
          <p:cNvSpPr/>
          <p:nvPr/>
        </p:nvSpPr>
        <p:spPr>
          <a:xfrm>
            <a:off x="365760" y="1051560"/>
            <a:ext cx="2559600" cy="1782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1325880" y="1188720"/>
            <a:ext cx="639360" cy="63936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1325880" y="11887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457200" y="1874520"/>
            <a:ext cx="2376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Kotlin 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Jetpack Compose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457200" y="246888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Android App UI &amp; Logic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3200400" y="1051560"/>
            <a:ext cx="2559600" cy="1782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8"/>
          <p:cNvSpPr/>
          <p:nvPr/>
        </p:nvSpPr>
        <p:spPr>
          <a:xfrm>
            <a:off x="4160520" y="1188720"/>
            <a:ext cx="639360" cy="639360"/>
          </a:xfrm>
          <a:prstGeom prst="ellipse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4160520" y="11887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▶️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3291840" y="1874520"/>
            <a:ext cx="2376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Jetpack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Media3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3291840" y="246888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Video Playback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2"/>
          <p:cNvSpPr/>
          <p:nvPr/>
        </p:nvSpPr>
        <p:spPr>
          <a:xfrm>
            <a:off x="6035040" y="1051560"/>
            <a:ext cx="2559600" cy="1782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a623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3"/>
          <p:cNvSpPr/>
          <p:nvPr/>
        </p:nvSpPr>
        <p:spPr>
          <a:xfrm>
            <a:off x="6995160" y="1188720"/>
            <a:ext cx="639360" cy="639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6995160" y="11887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6126480" y="1874520"/>
            <a:ext cx="2376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Firebase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Firestore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6"/>
          <p:cNvSpPr/>
          <p:nvPr/>
        </p:nvSpPr>
        <p:spPr>
          <a:xfrm>
            <a:off x="6126480" y="246888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Real-time Database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7"/>
          <p:cNvSpPr/>
          <p:nvPr/>
        </p:nvSpPr>
        <p:spPr>
          <a:xfrm>
            <a:off x="365760" y="3063240"/>
            <a:ext cx="2559600" cy="1782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5bbfa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1325880" y="3200400"/>
            <a:ext cx="639360" cy="639360"/>
          </a:xfrm>
          <a:prstGeom prst="ellipse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1325880" y="3200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0"/>
          <p:cNvSpPr/>
          <p:nvPr/>
        </p:nvSpPr>
        <p:spPr>
          <a:xfrm>
            <a:off x="457200" y="3886200"/>
            <a:ext cx="2376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Firebase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Auth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1"/>
          <p:cNvSpPr/>
          <p:nvPr/>
        </p:nvSpPr>
        <p:spPr>
          <a:xfrm>
            <a:off x="457200" y="448056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Role-based Login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2"/>
          <p:cNvSpPr/>
          <p:nvPr/>
        </p:nvSpPr>
        <p:spPr>
          <a:xfrm>
            <a:off x="3200400" y="3063240"/>
            <a:ext cx="2559600" cy="1782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b5ea7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3"/>
          <p:cNvSpPr/>
          <p:nvPr/>
        </p:nvSpPr>
        <p:spPr>
          <a:xfrm>
            <a:off x="4160520" y="3200400"/>
            <a:ext cx="639360" cy="63936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4"/>
          <p:cNvSpPr/>
          <p:nvPr/>
        </p:nvSpPr>
        <p:spPr>
          <a:xfrm>
            <a:off x="4160520" y="3200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5"/>
          <p:cNvSpPr/>
          <p:nvPr/>
        </p:nvSpPr>
        <p:spPr>
          <a:xfrm>
            <a:off x="3291840" y="3886200"/>
            <a:ext cx="2376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Firebase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Storage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6"/>
          <p:cNvSpPr/>
          <p:nvPr/>
        </p:nvSpPr>
        <p:spPr>
          <a:xfrm>
            <a:off x="3291840" y="448056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Video and data storage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7"/>
          <p:cNvSpPr/>
          <p:nvPr/>
        </p:nvSpPr>
        <p:spPr>
          <a:xfrm>
            <a:off x="6035040" y="3063240"/>
            <a:ext cx="2559600" cy="1782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779a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8"/>
          <p:cNvSpPr/>
          <p:nvPr/>
        </p:nvSpPr>
        <p:spPr>
          <a:xfrm>
            <a:off x="6995160" y="3200400"/>
            <a:ext cx="639360" cy="639360"/>
          </a:xfrm>
          <a:prstGeom prst="ellipse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9"/>
          <p:cNvSpPr/>
          <p:nvPr/>
        </p:nvSpPr>
        <p:spPr>
          <a:xfrm>
            <a:off x="6995160" y="32004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0"/>
          <p:cNvSpPr/>
          <p:nvPr/>
        </p:nvSpPr>
        <p:spPr>
          <a:xfrm>
            <a:off x="6126480" y="3886200"/>
            <a:ext cx="2376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HTML · CSS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4e"/>
                </a:solidFill>
                <a:effectLst/>
                <a:uFillTx/>
                <a:latin typeface="Georgia"/>
                <a:ea typeface="Georgia"/>
              </a:rPr>
              <a:t>· JavaScript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1"/>
          <p:cNvSpPr/>
          <p:nvPr/>
        </p:nvSpPr>
        <p:spPr>
          <a:xfrm>
            <a:off x="6126480" y="448056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8b6bae"/>
                </a:solidFill>
                <a:effectLst/>
                <a:uFillTx/>
                <a:latin typeface="Calibri"/>
              </a:rPr>
              <a:t>Web Dashboard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d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Expected Outcomes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365760" y="1097280"/>
            <a:ext cx="8411760" cy="8038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457200" y="1207080"/>
            <a:ext cx="584640" cy="5846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457200" y="120708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1188720" y="1097280"/>
            <a:ext cx="7405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Gamified therapy path keeps children engaged and following the correct learning order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365760" y="2057400"/>
            <a:ext cx="8411760" cy="8038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457200" y="2167200"/>
            <a:ext cx="584640" cy="5846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457200" y="216720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1188720" y="2057400"/>
            <a:ext cx="7405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Parents see live progress — streaks, stage completion &amp; quiz scores — no manual input needed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0"/>
          <p:cNvSpPr/>
          <p:nvPr/>
        </p:nvSpPr>
        <p:spPr>
          <a:xfrm>
            <a:off x="365760" y="3017520"/>
            <a:ext cx="8411760" cy="8038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457200" y="3127320"/>
            <a:ext cx="584640" cy="5846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457200" y="312732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1188720" y="3017520"/>
            <a:ext cx="7405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Therapists record CAP/SIR scores and view interactive charts across 3, 6 &amp; 12 months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365760" y="3977640"/>
            <a:ext cx="8411760" cy="8038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4b0e0"/>
            </a:solidFill>
            <a:round/>
          </a:ln>
          <a:effectLst>
            <a:outerShdw algn="bl" blurRad="101520" dir="8100000" dist="37674" kx="0" ky="0" rotWithShape="0" sx="100000" sy="100000">
              <a:srgbClr val="5c3d8f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457200" y="4087440"/>
            <a:ext cx="584640" cy="5846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457200" y="408744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☁️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1188720" y="3977640"/>
            <a:ext cx="7405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Firebase syncs all data in real time — zero paper records, zero admin overhead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c3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-731520" y="3200400"/>
            <a:ext cx="3199680" cy="31996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"/>
          <p:cNvSpPr/>
          <p:nvPr/>
        </p:nvSpPr>
        <p:spPr>
          <a:xfrm>
            <a:off x="7498080" y="-457200"/>
            <a:ext cx="2285280" cy="2285280"/>
          </a:xfrm>
          <a:prstGeom prst="ellipse">
            <a:avLst/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"/>
          <p:cNvSpPr/>
          <p:nvPr/>
        </p:nvSpPr>
        <p:spPr>
          <a:xfrm>
            <a:off x="6400800" y="3657600"/>
            <a:ext cx="1645200" cy="1645200"/>
          </a:xfrm>
          <a:prstGeom prst="ellipse">
            <a:avLst/>
          </a:prstGeom>
          <a:solidFill>
            <a:srgbClr val="6a3fa0"/>
          </a:solidFill>
          <a:ln w="12700">
            <a:solidFill>
              <a:srgbClr val="6a3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914400" y="-274320"/>
            <a:ext cx="1096560" cy="1096560"/>
          </a:xfrm>
          <a:prstGeom prst="ellipse">
            <a:avLst/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914400" y="82296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Thank You! 🎉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914400" y="187452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i="1" u="none" strike="noStrike">
                <a:solidFill>
                  <a:srgbClr val="c4b0e0"/>
                </a:solidFill>
                <a:effectLst/>
                <a:uFillTx/>
                <a:latin typeface="Georgia"/>
                <a:ea typeface="Georgia"/>
              </a:rPr>
              <a:t>Sound for Silence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1828800" y="24688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ede8f5"/>
                </a:solidFill>
                <a:effectLst/>
                <a:uFillTx/>
                <a:latin typeface="Calibri"/>
              </a:rPr>
              <a:t>A digital therapy companion for cochlear implant children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457200" y="3154680"/>
            <a:ext cx="2651040" cy="410760"/>
          </a:xfrm>
          <a:prstGeom prst="roundRect">
            <a:avLst>
              <a:gd name="adj" fmla="val 44444"/>
            </a:avLst>
          </a:prstGeom>
          <a:solidFill>
            <a:srgbClr val="e8779a"/>
          </a:solidFill>
          <a:ln w="12700">
            <a:solidFill>
              <a:srgbClr val="e87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457200" y="315468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Arya Institue of Engieering Technology and Managment, Jaipur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3383280" y="3154680"/>
            <a:ext cx="2651040" cy="410760"/>
          </a:xfrm>
          <a:prstGeom prst="roundRect">
            <a:avLst>
              <a:gd name="adj" fmla="val 44444"/>
            </a:avLst>
          </a:prstGeom>
          <a:solidFill>
            <a:srgbClr val="5bbfa0"/>
          </a:solidFill>
          <a:ln w="12700">
            <a:solidFill>
              <a:srgbClr val="5b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3383280" y="315468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B.Tech CSE · May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6309360" y="3154680"/>
            <a:ext cx="2651040" cy="410760"/>
          </a:xfrm>
          <a:prstGeom prst="roundRect">
            <a:avLst>
              <a:gd name="adj" fmla="val 44444"/>
            </a:avLst>
          </a:prstGeom>
          <a:solidFill>
            <a:srgbClr val="f5c842"/>
          </a:solidFill>
          <a:ln w="12700">
            <a:solidFill>
              <a:srgbClr val="f5c8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6309360" y="315468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d1b4e"/>
                </a:solidFill>
                <a:effectLst/>
                <a:uFillTx/>
                <a:latin typeface="Calibri"/>
              </a:rPr>
              <a:t>Firebase + Kotlin + Web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3"/>
          <p:cNvSpPr/>
          <p:nvPr/>
        </p:nvSpPr>
        <p:spPr>
          <a:xfrm>
            <a:off x="0" y="4434840"/>
            <a:ext cx="9143280" cy="7081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4"/>
          <p:cNvSpPr/>
          <p:nvPr/>
        </p:nvSpPr>
        <p:spPr>
          <a:xfrm>
            <a:off x="274320" y="4434840"/>
            <a:ext cx="85946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de8f5"/>
                </a:solidFill>
                <a:effectLst/>
                <a:uFillTx/>
                <a:latin typeface="Calibri"/>
              </a:rPr>
              <a:t>Abhishek Verma  ·  Shekhar Chaurasiya  ·  Sakshi Puria  ·  Abhishek Rathore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2026-03-13T16:35:11Z</dcterms:created>
  <dc:creator>PptxGenJS</dc:creator>
  <dc:description/>
  <dc:language>en-US</dc:language>
  <cp:lastModifiedBy>Shekhar Chaurasiya</cp:lastModifiedBy>
  <dcterms:modified xsi:type="dcterms:W3CDTF">2026-03-13T22:45:10Z</dcterms:modified>
  <cp:revision>4</cp:revision>
  <dc:subject>PptxGenJS Presentation</dc:subject>
  <dc:title>Sound for Silence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